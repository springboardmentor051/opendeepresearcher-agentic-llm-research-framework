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21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063E-FDD8-5542-1C73-5640AC88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70846-FF66-961D-AA36-8BE6695DD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A2F39-4E50-3ADE-34B4-7978DB187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3B9C-72C2-2991-FAD8-5D27E1D42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-1188720"/>
            <a:ext cx="4389120" cy="4389120"/>
          </a:xfrm>
          <a:prstGeom prst="ellipse">
            <a:avLst/>
          </a:prstGeom>
          <a:solidFill>
            <a:srgbClr val="1B7F79">
              <a:alpha val="18000"/>
            </a:srgbClr>
          </a:solidFill>
          <a:ln w="12700">
            <a:solidFill>
              <a:srgbClr val="1B7F7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-365760"/>
            <a:ext cx="2560320" cy="2560320"/>
          </a:xfrm>
          <a:prstGeom prst="ellipse">
            <a:avLst/>
          </a:prstGeom>
          <a:solidFill>
            <a:srgbClr val="24A19C">
              <a:alpha val="25000"/>
            </a:srgbClr>
          </a:solidFill>
          <a:ln w="12700">
            <a:solidFill>
              <a:srgbClr val="24A19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75488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OpenDeepResearcher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47472" y="2560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CC9C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LLM Research Framework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47472" y="31546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 · Search · Synthesize · Export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47472" y="4727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1752" y="1115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OpenDeepResearcher is an AI-powered research assistant that takes any query, breaks it into 4 focused sub-questions, searches the web in parallel, and synthesizes everything into a structured, professional report.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handles both fresh queries and follow-up questions — using conversation history to avoid repeating prior context and go deeper on new aspects.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82312" y="1115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markdown research report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 with titles and URLs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aware responses (no repeated context)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of every report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Multi-chat session history in the UI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CC9C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LangGraph — 4 sequential nodes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737360" cy="19202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6642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YES / NO via LLM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49424" y="2514600"/>
            <a:ext cx="301752" cy="0"/>
          </a:xfrm>
          <a:prstGeom prst="line">
            <a:avLst/>
          </a:prstGeom>
          <a:noFill/>
          <a:ln w="31750">
            <a:solidFill>
              <a:srgbClr val="3CC9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606040" y="1554480"/>
            <a:ext cx="1737360" cy="19202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66420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060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sub-questions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98264" y="2514600"/>
            <a:ext cx="301752" cy="0"/>
          </a:xfrm>
          <a:prstGeom prst="line">
            <a:avLst/>
          </a:prstGeom>
          <a:noFill/>
          <a:ln w="31750">
            <a:solidFill>
              <a:srgbClr val="3CC9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754880" y="1554480"/>
            <a:ext cx="173736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66420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threads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47104" y="2514600"/>
            <a:ext cx="301752" cy="0"/>
          </a:xfrm>
          <a:prstGeom prst="line">
            <a:avLst/>
          </a:prstGeom>
          <a:noFill/>
          <a:ln w="31750">
            <a:solidFill>
              <a:srgbClr val="3CC9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903720" y="1554480"/>
            <a:ext cx="1737360" cy="19202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66420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report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Detect  →  ② Plan  →  ③ Search &amp; Write (parallel)  →  ④ Synthesize  →  Report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5029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Structured markdown report  ·  Source citations  ·  PDF download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79776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338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1115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agents/planner.py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1938528"/>
            <a:ext cx="25420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exactly 4 sub-questions from the user query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mode: avoids repeating covered topics, digs deeper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fallback parsing: JSON → regex → line split → hardcoded defaults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last 6 messages of conversation history as context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78992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00400" y="1078992"/>
            <a:ext cx="2779776" cy="47548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3385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1115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Searcher Agent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agents/searcher.py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310128" y="1938528"/>
            <a:ext cx="25420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Tavily API with search_depth='advanced', up to 5 results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Auto-retries with search_depth='basic' if no results returned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top 4 results: title, content (800 chars), URL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errors cleanly for pipeline-level handling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44768" y="1078992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44768" y="1078992"/>
            <a:ext cx="2779776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13385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115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Agent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36208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agents/writer.py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254496" y="1938528"/>
            <a:ext cx="25420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partial summary (per sub-question) and final report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 skips intro, focuses on new aspect only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report: Introduction → Key Insights → Analysis → Challenges → Recommendations → Sources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last 6 messages as history context (400 chars each)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Parallel Execution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658368"/>
          </a:xfrm>
          <a:prstGeom prst="rect">
            <a:avLst/>
          </a:prstGeom>
          <a:solidFill>
            <a:srgbClr val="3CC9C3"/>
          </a:solidFill>
          <a:ln w="12700">
            <a:solidFill>
              <a:srgbClr val="3CC9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1133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ResearchState (TypedDict)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state: query, history, sub_questions, partial_summaries, final_report, is_followup, error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8595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10972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1892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detect_followup_llm()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Sends last 6 messages + new query to LLM. Returns is_followup: True/False. Falls back to False on timeout.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8595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109728" cy="658368"/>
          </a:xfrm>
          <a:prstGeom prst="rect">
            <a:avLst/>
          </a:prstGeom>
          <a:solidFill>
            <a:srgbClr val="4DB8B0"/>
          </a:solidFill>
          <a:ln w="12700">
            <a:solidFill>
              <a:srgbClr val="4DB8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planner_node()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935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Calls Planner.create_plan() with query, history, is_followup. Falls back to [query] on error.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8595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374136"/>
            <a:ext cx="10972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" y="3410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parallel_search_write_node()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6941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ThreadPoolExecutor(max_workers=4) — each sub-question runs _search_and_write_one() concurrently. 90s timeout per thread.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33088"/>
            <a:ext cx="8595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4133088"/>
            <a:ext cx="109728" cy="658368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final_writer_node()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4453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Joins partial_summaries, calls Writer.summarize(final=True). Falls back to joined partials on error.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(app.py)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09728" cy="16002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258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16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Multi-Chat Sidebar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1737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switch, and delete independent chat sessions. Each maintains its own conversation history used for follow-up detection.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36592" y="107899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36592" y="1078992"/>
            <a:ext cx="109728" cy="16002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19472" y="1261872"/>
            <a:ext cx="475488" cy="47548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1216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Updates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widget shows each pipeline step in real time: Detecting → Planning → Searching → Writing → Complete / Error.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8803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109728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57200" y="3063240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12724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Process Toggle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5488" y="353872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panel on each response shows the 4 sub-questions the Planner generated for that query.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36592" y="28803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736592" y="2880360"/>
            <a:ext cx="109728" cy="1600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2724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13832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37760" y="353872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assistant response has a Download PDF button. Uses pdf_export.py (ReportLab) to render styled markdown to PDF in memory.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 (utils/pdf_export.py)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C9C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Converts the markdown research report to a styled PDF using ReportLab — entirely in memory (no temp files).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655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H1 headings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20pt, dark navy, followed by a 1.5pt rule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H2 headings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15pt, with a 0.5pt divider above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91256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3191256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H3 headings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12pt, deep blue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986784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986784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Bullet points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Indented with • prefix, 4pt spacing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600200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56048" y="1655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Numbered lists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Converted to • bullets via regex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95728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2395728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56048" y="2450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**bold**, *italic*, `code`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Converted to ReportLab XML inline tags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91256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191256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56048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 URLs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Styled smaller, muted gray — used for sources section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986784"/>
            <a:ext cx="416052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986784"/>
            <a:ext cx="109728" cy="658368"/>
          </a:xfrm>
          <a:prstGeom prst="rect">
            <a:avLst/>
          </a:prstGeom>
          <a:solidFill>
            <a:srgbClr val="24A19C"/>
          </a:solidFill>
          <a:ln w="12700">
            <a:solidFill>
              <a:srgbClr val="24A1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56048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 / *** rules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Rendered as light gray HRFlowable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09728" cy="749808"/>
          </a:xfrm>
          <a:prstGeom prst="rect">
            <a:avLst/>
          </a:prstGeom>
          <a:solidFill>
            <a:srgbClr val="3CC9C3"/>
          </a:solidFill>
          <a:ln w="12700">
            <a:solidFill>
              <a:srgbClr val="3CC9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1179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0253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2002536"/>
            <a:ext cx="109728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350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889504"/>
            <a:ext cx="109728" cy="749808"/>
          </a:xfrm>
          <a:prstGeom prst="rect">
            <a:avLst/>
          </a:prstGeom>
          <a:solidFill>
            <a:srgbClr val="4DB8B0"/>
          </a:solidFill>
          <a:ln w="12700">
            <a:solidFill>
              <a:srgbClr val="4DB8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Interface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2369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77647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776472"/>
            <a:ext cx="109728" cy="749808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Search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41239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1155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1115568"/>
            <a:ext cx="109728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56048" y="1179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00253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002536"/>
            <a:ext cx="109728" cy="7498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56048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Generation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2350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2889504"/>
            <a:ext cx="109728" cy="749808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56048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6048" y="32369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concurrent.futures (4 threads)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377647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776472"/>
            <a:ext cx="109728" cy="749808"/>
          </a:xfrm>
          <a:prstGeom prst="rect">
            <a:avLst/>
          </a:prstGeom>
          <a:solidFill>
            <a:srgbClr val="F08080"/>
          </a:solidFill>
          <a:ln w="12700">
            <a:solidFill>
              <a:srgbClr val="F08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56048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 / Secrets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56048" y="41239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420624"/>
          </a:xfrm>
          <a:prstGeom prst="rect">
            <a:avLst/>
          </a:prstGeom>
          <a:solidFill>
            <a:srgbClr val="112233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143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Entry point — builds LangGraph and runs run_research(query, history)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420624"/>
          </a:xfrm>
          <a:prstGeom prst="rect">
            <a:avLst/>
          </a:prstGeom>
          <a:solidFill>
            <a:srgbClr val="0A1520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636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6367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UI — multi-chat sidebar, status updates, PDF download buttons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8595360" cy="420624"/>
          </a:xfrm>
          <a:prstGeom prst="rect">
            <a:avLst/>
          </a:prstGeom>
          <a:solidFill>
            <a:srgbClr val="112233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graph/pipeline.py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2130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LangGraph pipeline — ResearchState, 4 nodes, edges, build_graph()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420624"/>
          </a:xfrm>
          <a:prstGeom prst="rect">
            <a:avLst/>
          </a:prstGeom>
          <a:solidFill>
            <a:srgbClr val="0A1520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agents/planner.py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6243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Planner — LLM generates 4 sub-questions, 4-layer fallback parsing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8595360" cy="420624"/>
          </a:xfrm>
          <a:prstGeom prst="rect">
            <a:avLst/>
          </a:prstGeom>
          <a:solidFill>
            <a:srgbClr val="112233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118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agents/searcher.py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31181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Searcher — Tavily search (advanced → basic fallback), formats top 4 results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8595360" cy="420624"/>
          </a:xfrm>
          <a:prstGeom prst="rect">
            <a:avLst/>
          </a:prstGeom>
          <a:solidFill>
            <a:srgbClr val="0A1520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agents/writer.py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3611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Writer — partial summaries and final report, follow-up aware prompts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41648"/>
            <a:ext cx="8595360" cy="420624"/>
          </a:xfrm>
          <a:prstGeom prst="rect">
            <a:avLst/>
          </a:prstGeom>
          <a:solidFill>
            <a:srgbClr val="112233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utils/pdf_export.py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105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export — markdown → ReportLab styled PDF bytes (in-memory)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535424"/>
            <a:ext cx="8595360" cy="420624"/>
          </a:xfrm>
          <a:prstGeom prst="rect">
            <a:avLst/>
          </a:prstGeom>
          <a:solidFill>
            <a:srgbClr val="0A1520"/>
          </a:solidFill>
          <a:ln w="6350">
            <a:solidFill>
              <a:srgbClr val="1E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4599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D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Secrets: TAVILY_API_KEY, API_KEY, BASE_URL, MODEL_NAME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7F79">
              <a:alpha val="12000"/>
            </a:srgbClr>
          </a:solidFill>
          <a:ln w="12700">
            <a:solidFill>
              <a:srgbClr val="1B7F7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4A19C">
              <a:alpha val="15000"/>
            </a:srgbClr>
          </a:solidFill>
          <a:ln w="12700">
            <a:solidFill>
              <a:srgbClr val="24A19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CC9C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fully functional agentic research pipeline — from a single user query to a structured, cited, PDF-ready report — powered by LangGraph, Tavily, and any OpenAI-compatible LLM.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LangGraph pipeline with 4 nodes and shared ResearchState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3 agents: Planner (sub-questions) · Searcher (Tavily) · Writer (reports)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Parallel execution — 4 sub-questions searched and written concurrently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Follow-up detection — context-aware, no repeated explanations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 Streamlit UI — multi-chat, live status, expandable research steps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export — full markdown-to-ReportLab rendering, in-memory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4727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3F66-EDEC-74EB-38B5-6968AD8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58A9D93-A1A4-BC6C-A430-07AC7C15DEF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D0D541-9D14-2E7D-DF4A-F726792942EA}"/>
              </a:ext>
            </a:extLst>
          </p:cNvPr>
          <p:cNvSpPr/>
          <p:nvPr/>
        </p:nvSpPr>
        <p:spPr>
          <a:xfrm>
            <a:off x="1078992" y="685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9969C-E8A2-8507-B8D4-B7D1CBC47727}"/>
              </a:ext>
            </a:extLst>
          </p:cNvPr>
          <p:cNvSpPr/>
          <p:nvPr/>
        </p:nvSpPr>
        <p:spPr>
          <a:xfrm>
            <a:off x="36576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F34294-AF15-84DD-41E4-3C32EF44F716}"/>
              </a:ext>
            </a:extLst>
          </p:cNvPr>
          <p:cNvSpPr/>
          <p:nvPr/>
        </p:nvSpPr>
        <p:spPr>
          <a:xfrm>
            <a:off x="365760" y="2176272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A98058-32A2-EE70-B835-108CE71F1F71}"/>
              </a:ext>
            </a:extLst>
          </p:cNvPr>
          <p:cNvSpPr/>
          <p:nvPr/>
        </p:nvSpPr>
        <p:spPr>
          <a:xfrm>
            <a:off x="220863" y="1654009"/>
            <a:ext cx="8923137" cy="1634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35338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998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OpenDeepResearcher – Final Presentation</dc:title>
  <dc:subject>PptxGenJS Presentation</dc:subject>
  <dc:creator>PptxGenJS</dc:creator>
  <cp:lastModifiedBy>Mahesh Reddy I</cp:lastModifiedBy>
  <cp:revision>2</cp:revision>
  <dcterms:created xsi:type="dcterms:W3CDTF">2026-04-11T12:30:40Z</dcterms:created>
  <dcterms:modified xsi:type="dcterms:W3CDTF">2026-04-11T16:03:58Z</dcterms:modified>
</cp:coreProperties>
</file>